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dd3e64fce4a03" /><Relationship Type="http://schemas.openxmlformats.org/officeDocument/2006/relationships/extended-properties" Target="/docProps/app.xml" Id="R2cd81d8945674fd3" /><Relationship Type="http://schemas.openxmlformats.org/officeDocument/2006/relationships/officeDocument" Target="/ppt/presentation.xml" Id="Rf0434762eabb48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327a2ce6c40d2"/>
  </p:sldMasterIdLst>
  <p:notesMasterIdLst>
    <p:notesMasterId xmlns:r="http://schemas.openxmlformats.org/officeDocument/2006/relationships" r:id="Rb925cb35b8a04b7f"/>
  </p:notesMasterIdLst>
  <p:sldIdLst>
    <p:sldId xmlns:r="http://schemas.openxmlformats.org/officeDocument/2006/relationships" id="256" r:id="R8504a1cb09904f60"/>
    <p:sldId xmlns:r="http://schemas.openxmlformats.org/officeDocument/2006/relationships" id="257" r:id="R1d52fa2e29244604"/>
    <p:sldId xmlns:r="http://schemas.openxmlformats.org/officeDocument/2006/relationships" id="258" r:id="R5ba3708e74874ef4"/>
    <p:sldId xmlns:r="http://schemas.openxmlformats.org/officeDocument/2006/relationships" id="259" r:id="R55e33855bae1437a"/>
    <p:sldId xmlns:r="http://schemas.openxmlformats.org/officeDocument/2006/relationships" id="260" r:id="R6c9e3e5c4df84ca1"/>
    <p:sldId xmlns:r="http://schemas.openxmlformats.org/officeDocument/2006/relationships" id="261" r:id="R1c29680542d24891"/>
    <p:sldId xmlns:r="http://schemas.openxmlformats.org/officeDocument/2006/relationships" id="262" r:id="Rae5d7ed5bfae4599"/>
    <p:sldId xmlns:r="http://schemas.openxmlformats.org/officeDocument/2006/relationships" id="263" r:id="R1e00f1d9d0704c4f"/>
    <p:sldId xmlns:r="http://schemas.openxmlformats.org/officeDocument/2006/relationships" id="264" r:id="R11051cde78c14373"/>
    <p:sldId xmlns:r="http://schemas.openxmlformats.org/officeDocument/2006/relationships" id="265" r:id="R6306b3bdb63d413b"/>
    <p:sldId xmlns:r="http://schemas.openxmlformats.org/officeDocument/2006/relationships" id="266" r:id="Re888b434cef34617"/>
    <p:sldId xmlns:r="http://schemas.openxmlformats.org/officeDocument/2006/relationships" id="267" r:id="R4cd717a5923f48d5"/>
    <p:sldId xmlns:r="http://schemas.openxmlformats.org/officeDocument/2006/relationships" id="268" r:id="R495647055e1f4c64"/>
    <p:sldId xmlns:r="http://schemas.openxmlformats.org/officeDocument/2006/relationships" id="269" r:id="Rf4a973fa8c3b49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3a20be56149f5" /><Relationship Type="http://schemas.openxmlformats.org/officeDocument/2006/relationships/slideMaster" Target="/ppt/slideMasters/slideMaster1.xml" Id="Rab9327a2ce6c40d2" /><Relationship Type="http://schemas.openxmlformats.org/officeDocument/2006/relationships/notesMaster" Target="/ppt/notesMasters/notesMaster1.xml" Id="Rb925cb35b8a04b7f" /><Relationship Type="http://schemas.openxmlformats.org/officeDocument/2006/relationships/presProps" Target="/ppt/presProps.xml" Id="R129975a269a64ffd" /><Relationship Type="http://schemas.openxmlformats.org/officeDocument/2006/relationships/tableStyles" Target="/ppt/tableStyles.xml" Id="R2c24e6667bb64890" /><Relationship Type="http://schemas.openxmlformats.org/officeDocument/2006/relationships/slide" Target="/ppt/slides/slide1.xml" Id="R8504a1cb09904f60" /><Relationship Type="http://schemas.openxmlformats.org/officeDocument/2006/relationships/slide" Target="/ppt/slides/slide2.xml" Id="R1d52fa2e29244604" /><Relationship Type="http://schemas.openxmlformats.org/officeDocument/2006/relationships/slide" Target="/ppt/slides/slide3.xml" Id="R5ba3708e74874ef4" /><Relationship Type="http://schemas.openxmlformats.org/officeDocument/2006/relationships/slide" Target="/ppt/slides/slide4.xml" Id="R55e33855bae1437a" /><Relationship Type="http://schemas.openxmlformats.org/officeDocument/2006/relationships/slide" Target="/ppt/slides/slide5.xml" Id="R6c9e3e5c4df84ca1" /><Relationship Type="http://schemas.openxmlformats.org/officeDocument/2006/relationships/slide" Target="/ppt/slides/slide6.xml" Id="R1c29680542d24891" /><Relationship Type="http://schemas.openxmlformats.org/officeDocument/2006/relationships/slide" Target="/ppt/slides/slide7.xml" Id="Rae5d7ed5bfae4599" /><Relationship Type="http://schemas.openxmlformats.org/officeDocument/2006/relationships/slide" Target="/ppt/slides/slide8.xml" Id="R1e00f1d9d0704c4f" /><Relationship Type="http://schemas.openxmlformats.org/officeDocument/2006/relationships/slide" Target="/ppt/slides/slide9.xml" Id="R11051cde78c14373" /><Relationship Type="http://schemas.openxmlformats.org/officeDocument/2006/relationships/slide" Target="/ppt/slides/slide10.xml" Id="R6306b3bdb63d413b" /><Relationship Type="http://schemas.openxmlformats.org/officeDocument/2006/relationships/slide" Target="/ppt/slides/slide11.xml" Id="Re888b434cef34617" /><Relationship Type="http://schemas.openxmlformats.org/officeDocument/2006/relationships/slide" Target="/ppt/slides/slide12.xml" Id="R4cd717a5923f48d5" /><Relationship Type="http://schemas.openxmlformats.org/officeDocument/2006/relationships/slide" Target="/ppt/slides/slide13.xml" Id="R495647055e1f4c64" /><Relationship Type="http://schemas.openxmlformats.org/officeDocument/2006/relationships/slide" Target="/ppt/slides/slide14.xml" Id="Rf4a973fa8c3b49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117c2ce7241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cba9c63d44101" /><Relationship Type="http://schemas.openxmlformats.org/officeDocument/2006/relationships/notesMaster" Target="/ppt/notesMasters/notesMaster1.xml" Id="R82fa1cf1d26a43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6382416b364e79" /><Relationship Type="http://schemas.openxmlformats.org/officeDocument/2006/relationships/notesMaster" Target="/ppt/notesMasters/notesMaster1.xml" Id="R4e0799644318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747ae4b4644fa2" /><Relationship Type="http://schemas.openxmlformats.org/officeDocument/2006/relationships/notesMaster" Target="/ppt/notesMasters/notesMaster1.xml" Id="R82eb0436fc1a47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bf796a11d41bc" /><Relationship Type="http://schemas.openxmlformats.org/officeDocument/2006/relationships/notesMaster" Target="/ppt/notesMasters/notesMaster1.xml" Id="R81340c7bdb3e40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946978b1e2480d" /><Relationship Type="http://schemas.openxmlformats.org/officeDocument/2006/relationships/notesMaster" Target="/ppt/notesMasters/notesMaster1.xml" Id="R1c27369e6dcd45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c745c8e1794576" /><Relationship Type="http://schemas.openxmlformats.org/officeDocument/2006/relationships/notesMaster" Target="/ppt/notesMasters/notesMaster1.xml" Id="Rb507268d5d4b4d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83d010451d4725" /><Relationship Type="http://schemas.openxmlformats.org/officeDocument/2006/relationships/notesMaster" Target="/ppt/notesMasters/notesMaster1.xml" Id="R2d4211f8b2164a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afbe2037c843f7" /><Relationship Type="http://schemas.openxmlformats.org/officeDocument/2006/relationships/notesMaster" Target="/ppt/notesMasters/notesMaster1.xml" Id="R86d50272d3d64a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9831229f64488" /><Relationship Type="http://schemas.openxmlformats.org/officeDocument/2006/relationships/notesMaster" Target="/ppt/notesMasters/notesMaster1.xml" Id="R864ef768633f42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9149e1cde74576" /><Relationship Type="http://schemas.openxmlformats.org/officeDocument/2006/relationships/notesMaster" Target="/ppt/notesMasters/notesMaster1.xml" Id="R5b422f6557ea48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593ae598d4946" /><Relationship Type="http://schemas.openxmlformats.org/officeDocument/2006/relationships/notesMaster" Target="/ppt/notesMasters/notesMaster1.xml" Id="Ra24ba6de9cc743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e6b02d1ae34809" /><Relationship Type="http://schemas.openxmlformats.org/officeDocument/2006/relationships/notesMaster" Target="/ppt/notesMasters/notesMaster1.xml" Id="Rd752ae2293404d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de3473804746d5" /><Relationship Type="http://schemas.openxmlformats.org/officeDocument/2006/relationships/notesMaster" Target="/ppt/notesMasters/notesMaster1.xml" Id="R13e96f260c374f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d447ab5b1540b6" /><Relationship Type="http://schemas.openxmlformats.org/officeDocument/2006/relationships/notesMaster" Target="/ppt/notesMasters/notesMaster1.xml" Id="R5a5f3ef98f1d4c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NeuralMD 官方仓库图示：artifacts/neuralmd-patch-check/figure/pipeline.png</a:t>
            </a:r>
          </a:p>
          <a:p xmlns:a="http://schemas.openxmlformats.org/drawingml/2006/main">
            <a:r>
              <a:t>- 本项目文字稿：docs/初赛作品文字稿_算法赛方向二_2026-08-16.md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fo research指导手册2.pdf，算法赛方向二最新版任务定义</a:t>
            </a:r>
          </a:p>
          <a:p xmlns:a="http://schemas.openxmlformats.org/drawingml/2006/main">
            <a:r>
              <a:t>- docs/2026-08-13-updated-manual-and-template-audit.md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reports/reproduction/2026-08-14-velocity-time-consistency-audit.md</a:t>
            </a:r>
          </a:p>
          <a:p xmlns:a="http://schemas.openxmlformats.org/drawingml/2006/main">
            <a:r>
              <a:t>- reports/reproduction/2026-08-14-velocity-equivariant-effect-preflight.md</a:t>
            </a:r>
          </a:p>
          <a:p xmlns:a="http://schemas.openxmlformats.org/drawingml/2006/main">
            <a:r>
              <a:t>- NequIP: https://doi.org/10.1038/s41467-022-29939-5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docs/experiment-design-and-research-roadmap.md</a:t>
            </a:r>
          </a:p>
          <a:p xmlns:a="http://schemas.openxmlformats.org/drawingml/2006/main">
            <a:r>
              <a:t>- reports/reproduction/2026-08-14-anchored-residual-correctness.md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reports/reproduction/2026-08-14-full-misato-acceptance.md</a:t>
            </a:r>
          </a:p>
          <a:p xmlns:a="http://schemas.openxmlformats.org/drawingml/2006/main">
            <a:r>
              <a:t>- reports/reproduction/full_misato_acceptance.json</a:t>
            </a:r>
          </a:p>
          <a:p xmlns:a="http://schemas.openxmlformats.org/drawingml/2006/main">
            <a:r>
              <a:t>- reports/reproduction/2026-08-14-full-misato-streaming-smoke.md</a:t>
            </a:r>
          </a:p>
          <a:p xmlns:a="http://schemas.openxmlformats.org/drawingml/2006/main">
            <a:r>
              <a:t>- MISATO: https://doi.org/10.1038/s43588-024-00627-2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reports/figures/velocity_time_consistency_audit.png</a:t>
            </a:r>
          </a:p>
          <a:p xmlns:a="http://schemas.openxmlformats.org/drawingml/2006/main">
            <a:r>
              <a:t>- reports/reproduction/2026-08-14-velocity-time-consistency-audit.md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reports/reproduction/2026-08-13-temporal-multiscale-official-validation-confirmation.md</a:t>
            </a:r>
          </a:p>
          <a:p xmlns:a="http://schemas.openxmlformats.org/drawingml/2006/main">
            <a:r>
              <a:t>- reports/reproduction/temporal_multiscale_official_validation_confirmation.json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reports/reproduction/2026-08-14-velocity-equivariant-effect-preflight.md</a:t>
            </a:r>
          </a:p>
          <a:p xmlns:a="http://schemas.openxmlformats.org/drawingml/2006/main">
            <a:r>
              <a:t>- reports/reproduction/2026-08-14-velocity-equivariant-correctness.md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reports/reproduction/2026-08-14-full-train-bounded-velocity-gate.md</a:t>
            </a:r>
          </a:p>
          <a:p xmlns:a="http://schemas.openxmlformats.org/drawingml/2006/main">
            <a:r>
              <a:t>- reports/reproduction/full_train_bounded_velocity_gate.json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protein_quanta/anchored_velocity_residual.py</a:t>
            </a:r>
          </a:p>
          <a:p xmlns:a="http://schemas.openxmlformats.org/drawingml/2006/main">
            <a:r>
              <a:t>- reports/reproduction/2026-08-14-anchored-residual-correctness.md</a:t>
            </a:r>
          </a:p>
          <a:p xmlns:a="http://schemas.openxmlformats.org/drawingml/2006/main">
            <a:r>
              <a:t>- configs/anchored_residual_correctness_gate.json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reports/reproduction/2026-08-14-anchored-residual-correctness.md</a:t>
            </a:r>
          </a:p>
          <a:p xmlns:a="http://schemas.openxmlformats.org/drawingml/2006/main">
            <a:r>
              <a:t>- reports/reproduction/anchored_residual_correctness_gate.json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fo research指导手册2.pdf，Geo/Phys/Dyn/Stab 与外部数据要求</a:t>
            </a:r>
          </a:p>
          <a:p xmlns:a="http://schemas.openxmlformats.org/drawingml/2006/main">
            <a:r>
              <a:t>- docs/2026-08-13-external-model-governance.md</a:t>
            </a:r>
          </a:p>
          <a:p xmlns:a="http://schemas.openxmlformats.org/drawingml/2006/main">
            <a:r>
              <a:t>- docs/2026-08-13-updated-manual-and-template-audit.md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项目仓库：https://github.com/ytq0198/Protein-Quanta</a:t>
            </a:r>
          </a:p>
          <a:p xmlns:a="http://schemas.openxmlformats.org/drawingml/2006/main">
            <a:r>
              <a:t>- docs/初赛作品文字稿_算法赛方向二_2026-08-16.md</a:t>
            </a:r>
          </a:p>
          <a:p xmlns:a="http://schemas.openxmlformats.org/drawingml/2006/main">
            <a:r>
              <a:t>- 用户提供奖杯照片：屏幕截图 2026-08-06 140024.png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reports/reproduction/2026-08-14-anchored-residual-correctness.md</a:t>
            </a:r>
          </a:p>
          <a:p xmlns:a="http://schemas.openxmlformats.org/drawingml/2006/main">
            <a:r>
              <a:t>- docs/experiment-design-and-research-roadmap.md</a:t>
            </a:r>
          </a:p>
          <a:p xmlns:a="http://schemas.openxmlformats.org/drawingml/2006/main">
            <a:r>
              <a:t>- docs/2026-08-16-final-template-and-submission-plan.md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200f5fec0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95bb3dee4a4de4" /><Relationship Type="http://schemas.openxmlformats.org/officeDocument/2006/relationships/slideLayout" Target="/ppt/slideLayouts/slideLayout1.xml" Id="Rb1b3eba529b7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3eba529b7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8a10248054571" /><Relationship Type="http://schemas.openxmlformats.org/officeDocument/2006/relationships/image" Target="/ppt/media/image.png" Id="Rad43330acb3e4633" /><Relationship Type="http://schemas.openxmlformats.org/officeDocument/2006/relationships/notesSlide" Target="/ppt/notesSlides/notesSlide1.xml" Id="Rb6ec7e68d6d246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2f3359e5443cf" /><Relationship Type="http://schemas.openxmlformats.org/officeDocument/2006/relationships/notesSlide" Target="/ppt/notesSlides/notesSlide2.xml" Id="R230941c6ac6f41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f8318f62e47a9" /><Relationship Type="http://schemas.openxmlformats.org/officeDocument/2006/relationships/notesSlide" Target="/ppt/notesSlides/notesSlide3.xml" Id="Rcadc55d79336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1e85aabe94981" /><Relationship Type="http://schemas.openxmlformats.org/officeDocument/2006/relationships/notesSlide" Target="/ppt/notesSlides/notesSlide4.xml" Id="R820d741d99c347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fe852ba8f45f9" /><Relationship Type="http://schemas.openxmlformats.org/officeDocument/2006/relationships/notesSlide" Target="/ppt/notesSlides/notesSlide5.xml" Id="Re1f9fec5ca0c4c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7a218e8e047f6" /><Relationship Type="http://schemas.openxmlformats.org/officeDocument/2006/relationships/image" Target="/ppt/media/image2.png" Id="Rcaec3c3dc5df469c" /><Relationship Type="http://schemas.openxmlformats.org/officeDocument/2006/relationships/notesSlide" Target="/ppt/notesSlides/notesSlide6.xml" Id="R9f32a45825a34a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7c3d0ad8d438f" /><Relationship Type="http://schemas.openxmlformats.org/officeDocument/2006/relationships/chart" Target="/ppt/slides/charts/chart1.xml" Id="R7df779367ebe422c" /><Relationship Type="http://schemas.openxmlformats.org/officeDocument/2006/relationships/notesSlide" Target="/ppt/notesSlides/notesSlide7.xml" Id="R4723100be9d440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8abcaf7364ea4" /><Relationship Type="http://schemas.openxmlformats.org/officeDocument/2006/relationships/chart" Target="/ppt/slides/charts/chart2.xml" Id="Rc5ba0de925ce442b" /><Relationship Type="http://schemas.openxmlformats.org/officeDocument/2006/relationships/notesSlide" Target="/ppt/notesSlides/notesSlide8.xml" Id="R5418c8e51eca45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d5027d4bc48bc" /><Relationship Type="http://schemas.openxmlformats.org/officeDocument/2006/relationships/chart" Target="/ppt/slides/charts/chart3.xml" Id="Redfb8156e99d4771" /><Relationship Type="http://schemas.openxmlformats.org/officeDocument/2006/relationships/notesSlide" Target="/ppt/notesSlides/notesSlide9.xml" Id="Rb621e7b114134e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b9e0dd6f4411b" /><Relationship Type="http://schemas.openxmlformats.org/officeDocument/2006/relationships/notesSlide" Target="/ppt/notesSlides/notesSlide10.xml" Id="R1241de66ff8f4a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34fde20374078" /><Relationship Type="http://schemas.openxmlformats.org/officeDocument/2006/relationships/notesSlide" Target="/ppt/notesSlides/notesSlide11.xml" Id="R4ddacc175e5941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d33e84bd94831" /><Relationship Type="http://schemas.openxmlformats.org/officeDocument/2006/relationships/notesSlide" Target="/ppt/notesSlides/notesSlide12.xml" Id="R4d45c085708a4c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53ef76744458e" /><Relationship Type="http://schemas.openxmlformats.org/officeDocument/2006/relationships/image" Target="/ppt/media/image3.png" Id="R9e51e33b33434a6a" /><Relationship Type="http://schemas.openxmlformats.org/officeDocument/2006/relationships/notesSlide" Target="/ppt/notesSlides/notesSlide13.xml" Id="R164e2048d19e47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2bfb14fc34d08" /><Relationship Type="http://schemas.openxmlformats.org/officeDocument/2006/relationships/notesSlide" Target="/ppt/notesSlides/notesSlide14.xml" Id="R43a26eddbda84a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一步训练</c:v>
          </c:tx>
          <c:spPr>
            <a:solidFill xmlns:a="http://schemas.openxmlformats.org/drawingml/2006/main">
              <a:srgbClr val="A7B0BC"/>
            </a:solidFill>
          </c:spPr>
          <c:cat>
            <c:strLit>
              <c:ptCount val="4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宏平均</c:v>
              </c:pt>
            </c:strLit>
          </c:cat>
          <c:val>
            <c:numLit>
              <c:formatCode>General</c:formatCode>
              <c:ptCount val="4"/>
              <c:pt idx="0">
                <c:v>0.41029</c:v>
              </c:pt>
              <c:pt idx="1">
                <c:v>0.30894</c:v>
              </c:pt>
              <c:pt idx="2">
                <c:v>0.5054</c:v>
              </c:pt>
              <c:pt idx="3">
                <c:v>0.40821</c:v>
              </c:pt>
            </c:numLit>
          </c:val>
        </c:ser>
        <c:ser>
          <c:idx val="1"/>
          <c:order val="1"/>
          <c:tx>
            <c:v>多尺度闭环</c:v>
          </c:tx>
          <c:spPr>
            <a:solidFill xmlns:a="http://schemas.openxmlformats.org/drawingml/2006/main">
              <a:srgbClr val="2F73D9"/>
            </a:solidFill>
          </c:spPr>
          <c:cat>
            <c:strLit>
              <c:ptCount val="4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宏平均</c:v>
              </c:pt>
            </c:strLit>
          </c:cat>
          <c:val>
            <c:numLit>
              <c:formatCode>General</c:formatCode>
              <c:ptCount val="4"/>
              <c:pt idx="0">
                <c:v>0.40243</c:v>
              </c:pt>
              <c:pt idx="1">
                <c:v>0.30868</c:v>
              </c:pt>
              <c:pt idx="2">
                <c:v>0.47716</c:v>
              </c:pt>
              <c:pt idx="3">
                <c:v>0.39609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472"/>
                    </a:solidFill>
                  </a:rPr>
                  <a:t>RMSE（越低越好）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RMSE 相对下降</c:v>
          </c:tx>
          <c:spPr>
            <a:solidFill xmlns:a="http://schemas.openxmlformats.org/drawingml/2006/main">
              <a:srgbClr val="2F73D9"/>
            </a:solidFill>
          </c:spPr>
          <c:cat>
            <c:strLit>
              <c:ptCount val="3"/>
              <c:pt idx="0">
                <c:v>T1</c:v>
              </c:pt>
              <c:pt idx="1">
                <c:v>T2</c:v>
              </c:pt>
              <c:pt idx="2">
                <c:v>T3</c:v>
              </c:pt>
            </c:strLit>
          </c:cat>
          <c:val>
            <c:numLit>
              <c:formatCode>General</c:formatCode>
              <c:ptCount val="3"/>
              <c:pt idx="0">
                <c:v>33.1</c:v>
              </c:pt>
              <c:pt idx="1">
                <c:v>45.9</c:v>
              </c:pt>
              <c:pt idx="2">
                <c:v>80.5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472"/>
                    </a:solidFill>
                  </a:rPr>
                  <a:t>相对改善（%）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control</c:v>
          </c:tx>
          <c:spPr>
            <a:solidFill xmlns:a="http://schemas.openxmlformats.org/drawingml/2006/main">
              <a:srgbClr val="9AA5B1"/>
            </a:solidFill>
          </c:spPr>
          <c:cat>
            <c:strLit>
              <c:ptCount val="3"/>
              <c:pt idx="0">
                <c:v>T1</c:v>
              </c:pt>
              <c:pt idx="1">
                <c:v>T2</c:v>
              </c:pt>
              <c:pt idx="2">
                <c:v>T3</c:v>
              </c:pt>
            </c:strLit>
          </c:cat>
          <c:val>
            <c:numLit>
              <c:formatCode>General</c:formatCode>
              <c:ptCount val="3"/>
              <c:pt idx="0">
                <c:v>6.964</c:v>
              </c:pt>
              <c:pt idx="1">
                <c:v>6.186</c:v>
              </c:pt>
              <c:pt idx="2">
                <c:v>6.239</c:v>
              </c:pt>
            </c:numLit>
          </c:val>
        </c:ser>
        <c:ser>
          <c:idx val="1"/>
          <c:order val="1"/>
          <c:tx>
            <c:v>bounded velocity</c:v>
          </c:tx>
          <c:spPr>
            <a:solidFill xmlns:a="http://schemas.openxmlformats.org/drawingml/2006/main">
              <a:srgbClr val="D9782D"/>
            </a:solidFill>
          </c:spPr>
          <c:cat>
            <c:strLit>
              <c:ptCount val="3"/>
              <c:pt idx="0">
                <c:v>T1</c:v>
              </c:pt>
              <c:pt idx="1">
                <c:v>T2</c:v>
              </c:pt>
              <c:pt idx="2">
                <c:v>T3</c:v>
              </c:pt>
            </c:strLit>
          </c:cat>
          <c:val>
            <c:numLit>
              <c:formatCode>General</c:formatCode>
              <c:ptCount val="3"/>
              <c:pt idx="0">
                <c:v>8.46</c:v>
              </c:pt>
              <c:pt idx="1">
                <c:v>10.409</c:v>
              </c:pt>
              <c:pt idx="2">
                <c:v>23.586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472"/>
                    </a:solidFill>
                  </a:rPr>
                  <a:t>坐标 RMSE（Å）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509C3-3A26-44BE-93C1-BED42B3E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AI for Research · 算法赛方向二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07894-5583-4404-B0F1-EF6776F5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9A48C-8065-4CA7-8304-18C4975F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334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面向蛋白质-配体长时程动力学预测</a:t>
            </a:r>
          </a:p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的可控等变学习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244AC-C05C-45A7-B9A6-E41BF78C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初赛方案与阶段性实验结果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A3070-02B8-4D77-A290-F7D7AC4D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魏子安 · 耿健尧 · 熊润  |  2026.08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50E47-EF7E-4E93-91E6-25067400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"/>
            <a:ext cx="5619750" cy="5657850"/>
          </a:xfrm>
          <a:prstGeom xmlns:a="http://schemas.openxmlformats.org/drawingml/2006/main" prst="roundRect">
            <a:avLst>
              <a:gd name="adj" fmla="val 20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3330acb3e4633"/>
          <a:stretch xmlns:a="http://schemas.openxmlformats.org/drawingml/2006/main"/>
        </p:blipFill>
        <p:spPr>
          <a:xfrm xmlns:a="http://schemas.openxmlformats.org/drawingml/2006/main">
            <a:off x="6305550" y="2233487"/>
            <a:ext cx="5238750" cy="19338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77C35-B7A0-4B02-9CE7-EE63D48C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626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从稳定基线出发，只学习有证据支持的动力学修正</a:t>
            </a:r>
          </a:p>
        </p:txBody>
      </p:sp>
    </p:spTree>
    <p:extLst>
      <p:ext uri="{BB962C8B-B14F-4D97-AF65-F5344CB8AC3E}">
        <p14:creationId xmlns:p14="http://schemas.microsoft.com/office/powerpoint/2010/main" val="2122349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57885-9CBD-4E47-A427-FB3DB993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5D7C3-763A-4CB0-8C7E-643E70F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任务不是逐帧回归，而是受约束的长序列外推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4D751-7225-4E46-B4ED-672D4ECF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EA576-F459-4574-9B80-265FA93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72A45-B8EB-4B53-8E16-27D712F3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半柔性设定：蛋白质固定，输入已观测的配体原子坐标，预测后续三维轨迹。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3AB8C-2A4B-4B68-B9C4-C20093E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4290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C237B-3DC7-4D4F-9AA3-91264B88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DE515-0660-4A79-8076-B949EFBF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 →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5C7E4-575D-4DDC-91C2-E352ECE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短历史、短预测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56C35-7EC8-4ACE-A7B0-E69BEB64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考察初速度估计和局部几何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B7F52-0830-405B-99F4-BB46F408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34290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B1A56-97D0-48E9-A5C0-8E49812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91562-A8C0-4CCD-8D7A-1D72327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80 →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9994A-F508-47A8-A025-CF46051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长历史、短预测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04B21-C6C8-4D79-A94F-65045DF4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考察历史信息利用和局部精度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196F3-D97B-4600-8DB8-EECDFDCC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34290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3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80CA0-C05F-4CFC-91E3-D7197F13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3915C-EE34-429E-A304-18AE931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 → 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AA98B-F575-483C-A5A3-04371CBA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短历史、长预测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63993-8FDA-4194-8694-99029E47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最容易出现闭环漂移和动力学坍缩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C87DF-ECF9-400E-BDD3-AC1702A9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核心矛盾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FF25C-A64B-4C73-B76C-390D2B20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误差要低，但不能靠“几乎不动”获得低误差。</a:t>
            </a:r>
          </a:p>
        </p:txBody>
      </p:sp>
    </p:spTree>
    <p:extLst>
      <p:ext uri="{BB962C8B-B14F-4D97-AF65-F5344CB8AC3E}">
        <p14:creationId xmlns:p14="http://schemas.microsoft.com/office/powerpoint/2010/main" val="1359000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BE8CA-DB99-449F-A378-A9F959D4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1A3E-7D43-46DD-9A46-5916543E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三个问题决定了模型能否真正学到动力学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41AEF-7A37-4CC8-8BAD-5F4839C8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4F4F2-E60C-4002-8CF7-623406DA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917D5-1AE1-4EAA-850B-3FED5E6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B05C8-585E-49FC-BF7C-34C84CC9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闭环漂移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E5263-8D5F-4E52-A182-7C31D47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solidFill>
              <a:srgbClr val="2F73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C4ACB-4497-4546-B99E-9EE97B78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前一步误差会进入下一步输入，T3 的 80 帧推演会持续放大偏差。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420CB-FA7C-4366-A510-CD2CBA4C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838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B92B3-0CF0-43FF-B516-A06C792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1CA11-49AD-452F-93B6-7EB138E7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46FCD-32E9-402C-8AB5-B7C7486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三维对称性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854B0-161A-43AC-823F-C5575114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99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solidFill>
              <a:srgbClr val="2F73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C315A-B7FB-4C1A-AFF9-3A235814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整体旋转和平移不应改变内在动力学，坐标更新必须满足 E(3) 等变。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3C219-1C22-459E-BEDF-B30AB3C3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838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E7C4C-1FA3-4B12-ADB4-757EFFF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006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空间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3694E-EF97-4390-9170-A94E40C0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0DA15-CA85-4C78-BBDA-C4A452B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运动坍缩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8460-D884-43E7-A976-1B66D220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0">
            <a:solidFill>
              <a:srgbClr val="D978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390A0-2E12-4303-8809-5403A23F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低 RMSE 可能来自近静态预测，必须同时检查步幅、速度和稳定性。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D1693-2551-4F80-AFBD-B5C302DE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838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F0BD3-2B47-438F-8F24-79347AD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006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73163-599F-4EF8-8BFB-8DAC71BD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04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678F5-DC4C-4547-9FB5-3B93F07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76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我们的判断：更大的序列模型不是充分条件；单位、等变性和闭环训练目标必须同时正确。</a:t>
            </a:r>
          </a:p>
        </p:txBody>
      </p:sp>
    </p:spTree>
    <p:extLst>
      <p:ext uri="{BB962C8B-B14F-4D97-AF65-F5344CB8AC3E}">
        <p14:creationId xmlns:p14="http://schemas.microsoft.com/office/powerpoint/2010/main" val="11026875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A2388-EB6A-410F-8390-8A78214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B100C-EBE7-444C-827F-323B73CB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研究路线：先复现，再让创新承担可证伪的目标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5F0D4-FB3F-42E7-BE04-F3345B7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B47D-AA84-439D-93D5-C54EEE9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FDA04-78D5-4518-A12F-A3899B84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每个候选先过正确性门槛，再过效果门槛；失败结果同样用于决定下一步。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A423D-D514-4C29-B3C8-A9B4C725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712AF-D8A3-4403-A28E-34E7D8E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9525">
            <a:solidFill>
              <a:srgbClr val="2F73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6AEF7-BB41-4B53-8B8F-003428A4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A3B72-86DB-40CA-87F3-E943C6E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数据与协议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7B059-5C5A-4299-833A-DF91608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完整性、划分、单位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6427F-E355-421D-9C33-7FF969C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9525">
            <a:solidFill>
              <a:srgbClr val="2F73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460DE-ADA5-4B84-84E9-ADF171B6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263D5-82EE-40C6-8FEB-3D5A181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基线复现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B9122-0A51-4507-828C-2DD3288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148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NeuralMD 与 T1/T2/T3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32F77-2814-4B46-BC76-27C0ED3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9525">
            <a:solidFill>
              <a:srgbClr val="2F73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A9938-9F3C-4903-AB4F-C3CA81A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BA7D5-6B3B-4C3A-9572-36A85A8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瓶颈诊断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DA686-87C7-4652-BB8C-69C7593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148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漂移、幅度、裁剪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E4FD5-D1C4-4D91-9371-5D6FAD9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9525">
            <a:solidFill>
              <a:srgbClr val="2F73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55773-8EFA-47E6-A668-89A8112B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E2058-1F60-4081-A261-1C198796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受控创新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DE4B7-2421-4920-A687-7919136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多尺度 + 等变残差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CAD70-DC7B-4596-928F-58BB55D2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104A6-5483-4BAC-A6CC-414597A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2DF98-74A5-4295-80A3-67403EDF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联合门槛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6A193-05EC-43F9-AADD-0EAB1DC6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48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Geo / Phys / Dyn / Stab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3A470-23A4-4F1B-87D3-7BD36763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当前所在位置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4CB48-8FFA-4EFC-B2EA-FE9152FC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530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anchored residual 正确性已通过，等待三维效果门槛</a:t>
            </a:r>
          </a:p>
        </p:txBody>
      </p:sp>
    </p:spTree>
    <p:extLst>
      <p:ext uri="{BB962C8B-B14F-4D97-AF65-F5344CB8AC3E}">
        <p14:creationId xmlns:p14="http://schemas.microsoft.com/office/powerpoint/2010/main" val="508197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CFB5F-940F-49C7-B9F5-23FB2981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AF1C9-DB92-4D0D-A405-679C55F4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 MISATO 数据链路已经打通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2955F-AB21-494D-9F14-A84109A3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84DD0-C928-4C65-8A09-0569AD40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D3C71-0FE6-41AA-A4D2-8B831C0B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先确保数据和复现口径可靠，再讨论模型优劣。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0A41A-9893-41E0-8E79-74ADA77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C025E-F5A2-4C31-AD38-19A8A67F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16,972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98975-230E-4973-90DD-63841B08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HDF5 复合物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868CC-D8E5-4314-B314-F248366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group ID 与三份原始 split 的并集完全一致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4BF12-D047-481D-8B33-DA0FEC3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BA67B-7FFB-4FD5-866B-FBC32773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13,066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3987D-BEED-4DB0-9F0B-70EDE22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过滤后训练集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4FCEF-96C6-4BB6-A3E6-FADFC6E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验证集与测试集均为 1,357；去除 peptides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A865E-385A-46D3-AC2A-D536E39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88522-671F-46DC-AE49-F481ECDE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48 / 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AAAA6-0139-4175-9841-8FF82D8B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抽样审计通过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4055B-7C0B-4A15-813E-F127D7F8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schema、坐标有限性和数据读取全部通过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94B1A-80AB-4172-B73D-F8011D0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5B33E-92C0-4BF0-B430-772E4FDC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全量文件大小 132,841,014,019 字节；MD5 与公开值一致。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2196A-DBCC-47D2-B420-25D61BC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95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3EA01-30BC-4DF6-9EF5-E45B1FA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流式数据集已完成真实样本 GPU 前向/反向，梯度有限且非零。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DC76F-B4C9-4EA7-9CA1-3F2F01A9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186C8-84EC-4464-9D31-9A822BAD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Published NeuralMD 仍作为主基线，候选未通过联合门槛前不替换。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AEF99-70DA-40C7-AEFD-292725F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9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558FA-3627-4813-A85D-DF061BF3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15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16/32/64/128 实测均慢于 dense，当前不采用稀疏邻域。</a:t>
            </a:r>
          </a:p>
        </p:txBody>
      </p:sp>
    </p:spTree>
    <p:extLst>
      <p:ext uri="{BB962C8B-B14F-4D97-AF65-F5344CB8AC3E}">
        <p14:creationId xmlns:p14="http://schemas.microsoft.com/office/powerpoint/2010/main" val="12127634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D4D60-CCCD-4877-8CA4-4AF1B74F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2356A-5EA0-4089-876A-1C93B52C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先修正单位：步幅恢复不等于长程预测正确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FE22-DE99-4FCD-8725-CD0A3C5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F69D0-B748-40B3-8C52-90574AFB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c3c3dc5df469c"/>
          <a:stretch xmlns:a="http://schemas.openxmlformats.org/drawingml/2006/main"/>
        </p:blipFill>
        <p:spPr>
          <a:xfrm xmlns:a="http://schemas.openxmlformats.org/drawingml/2006/main">
            <a:off x="400050" y="1854711"/>
            <a:ext cx="8191500" cy="37200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9398A-A823-42E3-8301-3497484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857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0C95B-D0EB-406C-AC0A-30245A1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0.916-1.028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3D58A-015B-48FD-956B-010A03AE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单位修正后的步幅比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25BCE-FDC9-48BC-8B7C-A17E1838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解析控制证明初速度缩放应与时间尺度一致。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C5750-1A00-49D2-AEA3-E106EC3F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857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85BDB-BE89-4E0F-9C1F-DCC58C22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195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33.88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193FA-9FB4-4323-BC71-858958A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恒速度模型 T3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D5061-B371-4DD2-9EDE-8FAFBE43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29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数值约定正确以后，长程漂移仍然存在。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535FF-DD37-41D4-A259-43FB380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102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结论：单位一致性是必要条件，但不能代替动力学建模。</a:t>
            </a:r>
          </a:p>
        </p:txBody>
      </p:sp>
    </p:spTree>
    <p:extLst>
      <p:ext uri="{BB962C8B-B14F-4D97-AF65-F5344CB8AC3E}">
        <p14:creationId xmlns:p14="http://schemas.microsoft.com/office/powerpoint/2010/main" val="13187392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040E7-1BCF-4A41-822E-47375736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50E13-674D-4AE7-B62D-C786EA0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多时间尺度闭环在长程代理任务上出现稳定信号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C553F-B40F-4D37-8D20-62A49503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BBB02-EC52-40F8-9B8B-B1A4D389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3E0EC-9A18-4E19-BE5C-5ECB4703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 维轨迹不变量代理任务，三随机种子；结果用于验证机制，不等同于三维正式成绩。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33400" y="2076450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f779367ebe422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8DA3F-B640-4E3C-93CA-A4A5CC96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390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5FB3A-D4B0-407E-A86F-E0061BAD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-5.59%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A7394-2914-4D74-A274-41824C3E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T3 RMSE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DEB31-8572-425C-BB3F-ADB8402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0.50540 → 0.47716；三个种子方向一致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CE8BE-7D5B-420E-B2DD-3D21CD99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390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42CCE-2295-482E-A00A-F804D90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-2.97%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65A02-1CF2-475D-97A8-358DDF2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宏平均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641C4-E04B-430F-BF9E-E0FE957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0.40821 → 0.39609；主要收益集中在 T3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6D429-57D7-451D-872A-FC9CFD98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29300"/>
            <a:ext cx="3390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917D9-6B30-44C7-BBC7-C39ADD3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9597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机制可迁移，三维效果仍待验证</a:t>
            </a:r>
          </a:p>
        </p:txBody>
      </p:sp>
    </p:spTree>
    <p:extLst>
      <p:ext uri="{BB962C8B-B14F-4D97-AF65-F5344CB8AC3E}">
        <p14:creationId xmlns:p14="http://schemas.microsoft.com/office/powerpoint/2010/main" val="7864702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47441-D87E-4A41-942B-AA45BC99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5F4C5-F94B-49FD-8951-5CFBE8E9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一次“看起来很好”的结果暴露了评价陷阱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E9CEA-8CCE-49B2-B8BC-535B18AC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7480A-D88A-42D4-9B0B-490DF0FB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9F495-D955-4043-BA19-82667791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36/12 train-only 开发划分：速度感知 E(3) 相对 position-only 控制。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52450" y="209550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ba0de925ce442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6BFE5-B86E-4A7E-A337-899329C6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000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61A0-0626-471A-A682-1CA3C3F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0.1135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D227F-4390-4E2B-8F29-222FA27E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T3 步幅比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CBF16-1A83-4ED6-BA6F-7DE4A3B7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98.3%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13094-D886-42CE-8226-444070EB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梯度裁剪率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057D2-4684-4EE6-966C-88FF6880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9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模型不是学得更准，而是过度刹车。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0EF8B-5BF0-499B-855F-63D099A7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240AE-707E-4A2C-B029-90881B8B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速度信息有用：正确性和 RMSE 都出现正信号。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30FB0-7FF8-4B37-AADE-AAE64A7F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F189A-4D7B-437A-AA0E-81759799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单一坐标指标不够：动力学幅度和优化稳定性必须联合判断。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A195E-9D52-422F-9BB7-968AA681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81700"/>
            <a:ext cx="4000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15F58-B79B-4BB0-8D29-1A2A535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0483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综合门槛：不晋升</a:t>
            </a:r>
          </a:p>
        </p:txBody>
      </p:sp>
    </p:spTree>
    <p:extLst>
      <p:ext uri="{BB962C8B-B14F-4D97-AF65-F5344CB8AC3E}">
        <p14:creationId xmlns:p14="http://schemas.microsoft.com/office/powerpoint/2010/main" val="6631957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F66B3-B8AD-436C-81E3-2702CEDF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23762-7358-411F-8549-141238A5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恢复运动幅度以后，轨迹方向仍然可能错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AE464-54BF-4B08-AF9F-30DBC04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0DB02-BAAB-48F9-8617-7AA4A907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7D980-C98E-4CEC-A0B4-1D8EDEFB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完整训练集新抽取的 32/8 train-only 配对实验；validation/test 未访问。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33400" y="211455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fb8156e99d477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AA4A8-E2CA-453C-95CD-0DAD12DD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3390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8B2E3-68FF-498F-B9E6-67DF5E0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0.6014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10F03-DC8F-45B5-8192-8A2D428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候选 T3 步幅比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AB263-4622-4FF3-813A-7C985522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control 为 0.0763，运动幅度明显恢复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CCD4B-007F-4289-8111-79F0732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3390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BB0EE-13CD-4CAE-B36F-F43FC5D5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+278%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BE0B5-11B5-4FAB-A671-E514256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候选 T3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A42E0-7FAB-4ACD-9609-54392B9B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91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6.239 Å → 23.586 Å，轨迹误差严重恶化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4A2DE-9083-477F-ABD7-56EEC18D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0250"/>
            <a:ext cx="3390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B3411-A29B-4BE7-8FA4-CCE099B6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769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幅度改善不能抵消坐标失败：方案冻结</a:t>
            </a:r>
          </a:p>
        </p:txBody>
      </p:sp>
    </p:spTree>
    <p:extLst>
      <p:ext uri="{BB962C8B-B14F-4D97-AF65-F5344CB8AC3E}">
        <p14:creationId xmlns:p14="http://schemas.microsoft.com/office/powerpoint/2010/main" val="17370165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99AC8-CC85-4764-9EFC-3443969F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5C4F-5301-46D9-9B83-826A1164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创新点：从稳定控制出发，学习受限的等变修正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B28E1-2900-4128-B0CB-289B67D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8691A-419D-4DB6-8A70-E512AC1D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4D4A1-555B-4A99-BDB9-12690AB3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control-anchored gated E(3) residual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DD9FD-C5EC-4D5F-9D68-FDC39977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914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C3D87-9BB4-42E6-AC0C-F23E409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914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C70EC-7091-4744-8FC8-94E3D455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F6186-D994-4EED-889A-F05C34C0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冻结控制模型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DD4E2-C660-47CB-A00F-8E752398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提供稳定的 anchor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参数不参与更新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14F61-5952-4619-A4E7-FF00166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2781300" cy="253365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3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827E3-2613-48FB-A4ED-DDD4D48D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门控残差分支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2A30E-D97B-4EDA-82BE-E12C16C2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051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E(3) 等变残差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速度不变量 gate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零初始化全局尺度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BA6FD-DDCD-47A7-8359-A5F88C59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33909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B6A01-5454-4D34-80A2-A6FBFB17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受控的下一步预测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F2573-41C4-4B80-A172-C14DAA8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初始化严格等于 control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只在证据支持时逐步偏离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CDA2C-6AAD-43D8-9784-9D9E94F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0150"/>
            <a:ext cx="885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111FE-2FA6-45C5-A07F-DB259C6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00650"/>
            <a:ext cx="832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= a_anchor + gate(z, |v|²) · tanh(s) · a_residual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FF1D7-00C1-410F-8BAB-A9745F50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目标：避免自由残差再次走向静止或 ballistic，同时保留可学习性。</a:t>
            </a:r>
          </a:p>
        </p:txBody>
      </p:sp>
    </p:spTree>
    <p:extLst>
      <p:ext uri="{BB962C8B-B14F-4D97-AF65-F5344CB8AC3E}">
        <p14:creationId xmlns:p14="http://schemas.microsoft.com/office/powerpoint/2010/main" val="153924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CC32A-A648-492E-A44E-762C139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AF7E8-628C-42E7-B510-536BE87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锚定式残差已通过 7/7 项结构正确性门槛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FAD9C-20D1-42D8-91CE-8360323E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0BD31-FFBB-4588-B4FE-F75510F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70E4D-0203-437D-AFD0-63471149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真实训练复合物 4K6V；只做一次更新，不访问 diagnostic、validation 或 test。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5062D-7026-4BD9-AC57-1EEB31E4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2B585-0B0F-4220-A2C6-281A1136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E8DB4-E4A8-4A58-9314-7ECBDDE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初始 anchor 误差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F128B-5E60-4374-8A86-9DD64941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初始化输出与冻结 control 严格一致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CEC94-2848-419A-99DB-08E3AB4C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616D5-7819-4EF7-8480-F6487CA2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-3.34e-6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8F323-081B-4570-9FC5-DC9F6755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尺度梯度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ECE82-99BD-4102-A746-885A034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有限且非零，残差分支可训练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0BDA7-3266-489D-B8EA-9A2A720C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76E0C-AFE9-4EB8-870E-B01815F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6.59e-8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56674-2962-4F5D-835C-DC5D213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相对修正幅度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D18A4-FFCF-40E9-AF31-B74063B1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单步后非零且远低于 5% 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38167-78AA-46EC-A4B8-224A365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571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6CAD1-B7EF-4EFF-82D3-4272EB7E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bitwise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714BD-5301-421E-8426-5A3200AB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锚点保持不变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F9A8D-1B4D-451B-A183-E48A1CC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冻结控制参数逐位一致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03733-D5AD-47B9-9E45-19502A9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029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455DE-4B5A-42DC-BD4B-5778BCE4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E(3) 等变误差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B0A5E-BDF7-42B9-878B-70236D4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旋转  2.086 × 10⁻⁷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F401C-DEC1-498B-A862-FACE2741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反射  2.682 × 10⁻⁷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D6CF8-6536-4E87-B868-D8E062B8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38650"/>
            <a:ext cx="1981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2D1C6F-A58D-4121-95B1-E891E93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053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全部低于 1e-4 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E43CA-2CEF-44BE-8E4C-FA69950E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这证明结构可实现、可训练且初始安全；尚不等同于预测性能提升。</a:t>
            </a:r>
          </a:p>
        </p:txBody>
      </p:sp>
    </p:spTree>
    <p:extLst>
      <p:ext uri="{BB962C8B-B14F-4D97-AF65-F5344CB8AC3E}">
        <p14:creationId xmlns:p14="http://schemas.microsoft.com/office/powerpoint/2010/main" val="839976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0B0BA-2129-4A44-BA1D-8829603A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489D2-F1A1-466D-97E6-33D51180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模型晋升看四个维度，也要守住数据边界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D9972-9633-4388-86C4-824AA825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C8068-9282-4A1B-A2C3-43F698B3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1D7E7-19C9-48B4-A1F4-A029DEC3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AC06-4212-4ED7-A978-D3F35F21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Geo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B1948-F385-4CC9-B83B-A26B2909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坐标 RMSE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等变误差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A7B48-A9DF-4F92-93F0-22EABC73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8A165-BA1E-4992-B105-074D594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9B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9BFE8"/>
                </a:solidFill>
                <a:latin typeface="Microsoft YaHei"/>
                <a:ea typeface="Microsoft YaHei"/>
                <a:cs typeface="Microsoft YaHei"/>
              </a:rPr>
              <a:t>Phys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C36C0-9CCC-45FC-AECF-2A1AEC2F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局部几何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碰撞代理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361F0-EE54-40FE-BB2C-5A3662B8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24A17-440F-47FA-A05C-B858C933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8B61"/>
                </a:solidFill>
                <a:latin typeface="Microsoft YaHei"/>
                <a:ea typeface="Microsoft YaHei"/>
                <a:cs typeface="Microsoft YaHei"/>
              </a:rPr>
              <a:t>Dyn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60E9B-B621-4DF1-8FC2-D1291B0A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步幅与速度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闭环漂移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8B18B-83DC-4F19-A873-4FF4079A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CB20E-2067-41D5-9363-7D7D7E3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9782D"/>
                </a:solidFill>
                <a:latin typeface="Microsoft YaHei"/>
                <a:ea typeface="Microsoft YaHei"/>
                <a:cs typeface="Microsoft YaHei"/>
              </a:rPr>
              <a:t>Stab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5447A-C01B-4EAC-8A9B-1ED5DC8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裁剪率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跨 seed 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28453-ABAB-4FB9-9D5A-63E3F57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外部预训练模型的处理原则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7ACDC-3F12-43AC-AAA8-7D384EF4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B1B58-55C5-4A43-8E06-117302A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PVB、EPT、DPLM、ProTDyn 目前只作为架构参考。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5EAEF-C5AB-4C64-9E9E-120288D6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B0590-9B2F-479A-B0A0-D96C0CAB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 ID、近同源和配体 scaffold 未审计清楚前，不加载权重。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2646C-1F22-434B-B182-DBDB68D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为什么这样做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2E282-3F95-4A78-86C0-69623EB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比赛明确要求外部数据不能包含测试复合物或近同源体系。短期少用一个预训练模型，比得到无法解释的高分更重要。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41659-F8A0-4F3F-90AE-829F95A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0"/>
            <a:ext cx="4667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A95EC-9D74-4209-A615-2A2D638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81675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不自行拼接新版未公布的官方总分</a:t>
            </a:r>
          </a:p>
        </p:txBody>
      </p:sp>
    </p:spTree>
    <p:extLst>
      <p:ext uri="{BB962C8B-B14F-4D97-AF65-F5344CB8AC3E}">
        <p14:creationId xmlns:p14="http://schemas.microsoft.com/office/powerpoint/2010/main" val="12505952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30C66-1EEF-47B0-911E-CD1416AF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04211-3DF2-4823-A01A-8114AFE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复现链路和团队能力已经形成闭环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83B63-2FD1-436B-B565-6EF9B05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4C04E-AFF4-40CC-8367-4B9605B4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1CCBE-F22E-487F-86DF-7212274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667500" cy="4210050"/>
          </a:xfrm>
          <a:prstGeom xmlns:a="http://schemas.openxmlformats.org/drawingml/2006/main" prst="roundRect">
            <a:avLst>
              <a:gd name="adj" fmla="val 22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88433-763A-448F-B511-7481062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复现与开放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EBC38-C6F2-4792-BFC9-9E3E2ED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F3A76-3CC5-494D-B8B7-A80CEF79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公开仓库保存配置、随机种子、原始 JSON 和逐项实验报告。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662C0-909F-42B1-8564-1AF59C7D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B475A-B016-496D-9B1E-9E26A84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固定 NeuralMD、MISATO 和官方 checkpoint 的提交与哈希。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7E59C-B40D-4C5F-9633-59DA69AC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0A380-B453-4F0B-9567-7CE3FCAD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数据与第三方权重不进入 Git，只记录合法来源和校验值。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0685B-2357-474E-9825-20CD040D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5B03F-2E96-463B-8D13-76721983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579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当前训练评估不依赖商业 API 或闭源模型。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46D66-08D0-4D7C-A365-56ED51E4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98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github.com/ytq0198/Protein-Quanta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0533E-3C75-4E78-B8BB-88D8C79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19250"/>
            <a:ext cx="428625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C6F08-F9A1-480A-BA31-49B756F3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DCC15-1BEB-4755-99EA-EEC0D15C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61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魏子安｜研究路线、复现、长序列实验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耿健尧｜文献、合规、结果复核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熊  润｜三维模型、完整训练、GPU 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AB0CE-7543-4BA1-9883-0147F379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16764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1e33b33434a6a"/>
          <a:srcRect xmlns:a="http://schemas.openxmlformats.org/drawingml/2006/main" l="0" t="19220" r="0" b="192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4533900"/>
            <a:ext cx="1524000" cy="12192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15A45-FEE4-465A-BFD1-EE3EB29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52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已有协作经验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CE28D-72AF-4376-AFDE-56DF54E0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720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古文字识别智能体项目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第四届世界科学智能大赛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古文字识别赛道三等奖</a:t>
            </a:r>
          </a:p>
        </p:txBody>
      </p:sp>
    </p:spTree>
    <p:extLst>
      <p:ext uri="{BB962C8B-B14F-4D97-AF65-F5344CB8AC3E}">
        <p14:creationId xmlns:p14="http://schemas.microsoft.com/office/powerpoint/2010/main" val="10530695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CF38A-7D03-470A-B0CD-AEAC60F9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PROTEIN-QUANTA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5AA21-35D1-43BD-9C43-432F10F7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下一步只回答一个问题：受控残差能否同时改善精度和运动？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7B016-90C1-4261-B82D-9B27EC34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C87F0-9BC5-4DA2-BC44-BA22135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3483B-AC0B-4772-B78E-ED167B3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43E84-7D19-45B0-8319-252FD68A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33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8/4 train-only 效果门槛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CBDEA-7DE9-40CB-AAC3-5D138E9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冻结 control，与 anchored residual 同 schedule 配对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26B7C-BAEC-43A6-B7E9-8EC9D23D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360C3-A46A-4834-BBF8-27BBEDF5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8FAA3-7483-4B0B-BB47-1C6C49DF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联合判定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771C1-4939-4B82-8F90-CD26E81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T3 RMSE、T3 步幅、T1 防线、残差能量同时通过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BD19F-6DAC-402E-A618-7C86FFA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E81F2-536F-4630-A04E-510E4AAE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CDF63-2060-4B37-A48D-0002EC81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三维多尺度迁移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FCCAD-D974-4562-9FD5-E7EC01E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 [5,10,20,40] 闭环监督加入等变模型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1EF49-81BC-4976-9A77-FB84637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B686E-171A-47CD-A77B-C81294ED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3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854E5-F455-4F15-87EA-1E18EE27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完整训练与泄漏审计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4AFA8-2E6A-426D-A535-75FCCCED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同源蛋白、Bemis-Murcko scaffold、外部权重全量披露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90666-32DA-40D2-883D-0A7C90E6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03FCC-2082-4028-AB26-59E123C9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我们的目标不是把模型做得更复杂，而是让每一次改进都有可复核的科学理由。</a:t>
            </a:r>
          </a:p>
        </p:txBody>
      </p:sp>
    </p:spTree>
    <p:extLst>
      <p:ext uri="{BB962C8B-B14F-4D97-AF65-F5344CB8AC3E}">
        <p14:creationId xmlns:p14="http://schemas.microsoft.com/office/powerpoint/2010/main" val="1851005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2026-08-16T04:38:50.5160000Z</dcterms:created>
  <dcterms:modified xsi:type="dcterms:W3CDTF">2026-08-16T04:38:50.5160000Z</dcterms:modified>
</coreProperties>
</file>